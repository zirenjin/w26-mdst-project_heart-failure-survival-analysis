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11"/>
  </p:normalViewPr>
  <p:slideViewPr>
    <p:cSldViewPr snapToGrid="0" snapToObjects="1">
      <p:cViewPr varScale="1">
        <p:scale>
          <a:sx n="116" d="100"/>
          <a:sy n="116" d="100"/>
        </p:scale>
        <p:origin x="17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Machine Learning Algorithms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Logistic Regression</a:t>
            </a:r>
          </a:p>
          <a:p>
            <a:r>
              <a:t>Random Forest</a:t>
            </a:r>
          </a:p>
          <a:p>
            <a:r>
              <a:t>Support Vector Machine (SVM)</a:t>
            </a:r>
          </a:p>
          <a:p>
            <a:r>
              <a:t>K-Nearest Neighbors (KNN)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/>
          </a:bodyPr>
          <a:lstStyle/>
          <a:p>
            <a:r>
              <a:rPr lang="en-US" sz="4200"/>
              <a:t>Logistic Regression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/>
              <a:t>Supervised classification algorithm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Predicts probability using sigmoid function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Creates linear decision boundary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Easy to interpret and fast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03E72-385D-D0B1-DAAD-680CAD5DE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" y="2871025"/>
            <a:ext cx="4101084" cy="30758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5CD87F-F2C2-D365-499B-791AE340C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3045322"/>
            <a:ext cx="4101084" cy="27272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368B0E-FE42-D355-2632-158DCB2183AD}"/>
              </a:ext>
            </a:extLst>
          </p:cNvPr>
          <p:cNvSpPr txBox="1"/>
          <p:nvPr/>
        </p:nvSpPr>
        <p:spPr>
          <a:xfrm>
            <a:off x="3230041" y="6027902"/>
            <a:ext cx="26816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&gt; 0.5 --&gt; class 1</a:t>
            </a:r>
          </a:p>
          <a:p>
            <a:r>
              <a:rPr lang="en-US" dirty="0"/>
              <a:t>Else: class 0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–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Best for simple, linearly separable data</a:t>
            </a:r>
          </a:p>
          <a:p>
            <a:r>
              <a:rPr dirty="0"/>
              <a:t>Outputs Yes/No predictions</a:t>
            </a:r>
          </a:p>
          <a:p>
            <a:r>
              <a:rPr dirty="0"/>
              <a:t>Used in </a:t>
            </a:r>
            <a:r>
              <a:rPr lang="en-US" dirty="0"/>
              <a:t>binary classification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Random Forest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endParaRPr lang="en-US" sz="1600"/>
          </a:p>
          <a:p>
            <a:r>
              <a:rPr lang="en-US" sz="1600"/>
              <a:t>Ensemble of many decision trees</a:t>
            </a:r>
          </a:p>
          <a:p>
            <a:r>
              <a:rPr lang="en-US" sz="1600"/>
              <a:t>Each tree votes for final prediction</a:t>
            </a:r>
          </a:p>
          <a:p>
            <a:r>
              <a:rPr lang="en-US" sz="1600"/>
              <a:t>Reduces overfitting</a:t>
            </a:r>
          </a:p>
          <a:p>
            <a:r>
              <a:rPr lang="en-US" sz="1600"/>
              <a:t>Handles nonlinear patterns</a:t>
            </a:r>
          </a:p>
        </p:txBody>
      </p:sp>
      <p:pic>
        <p:nvPicPr>
          <p:cNvPr id="4" name="Picture 3" descr="A diagram of a tree&#10;&#10;AI-generated content may be incorrect.">
            <a:extLst>
              <a:ext uri="{FF2B5EF4-FFF2-40B4-BE49-F238E27FC236}">
                <a16:creationId xmlns:a16="http://schemas.microsoft.com/office/drawing/2014/main" id="{3A44B5C6-C812-04B8-09BD-7335C8065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952" y="2734056"/>
            <a:ext cx="4914389" cy="3483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–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Works well on complex real-world data</a:t>
            </a:r>
          </a:p>
          <a:p>
            <a:r>
              <a:rPr dirty="0"/>
              <a:t>Robust and accurate</a:t>
            </a:r>
          </a:p>
          <a:p>
            <a:r>
              <a:rPr dirty="0"/>
              <a:t>Harder to interpret than single models</a:t>
            </a:r>
            <a:endParaRPr lang="en-US" dirty="0"/>
          </a:p>
          <a:p>
            <a:r>
              <a:rPr lang="en-US" dirty="0"/>
              <a:t>Usually better than other baseline models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/>
          </a:bodyPr>
          <a:lstStyle/>
          <a:p>
            <a:r>
              <a:rPr lang="en-US" sz="3900"/>
              <a:t>Support Vector Machine (SVM)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Finds optimal boundary between classes</a:t>
            </a:r>
          </a:p>
          <a:p>
            <a:r>
              <a:rPr lang="en-US" sz="1900"/>
              <a:t>Maximizes margin between groups</a:t>
            </a:r>
          </a:p>
          <a:p>
            <a:r>
              <a:rPr lang="en-US" sz="1900"/>
              <a:t>Can model nonlinear data using kernels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8D4967-7DCF-8370-541F-E5EDCD645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" y="3081206"/>
            <a:ext cx="4101084" cy="26554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EFFCAF-393E-6931-8064-3F44E99B2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3260629"/>
            <a:ext cx="4101084" cy="22966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SVM –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Effective in high-dimensional data</a:t>
            </a:r>
          </a:p>
          <a:p>
            <a:r>
              <a:t>Works well for smaller datasets</a:t>
            </a:r>
          </a:p>
          <a:p>
            <a:r>
              <a:t>Needs careful parameter tuning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K-Nearest Neighbors (KNN)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 fontScale="92500"/>
          </a:bodyPr>
          <a:lstStyle/>
          <a:p>
            <a:endParaRPr lang="en-US" sz="1600" dirty="0"/>
          </a:p>
          <a:p>
            <a:r>
              <a:rPr lang="en-US" sz="1600" dirty="0"/>
              <a:t>Classifies based on closest neighbors</a:t>
            </a:r>
          </a:p>
          <a:p>
            <a:r>
              <a:rPr lang="en-US" sz="1600" dirty="0"/>
              <a:t>Uses distance measurement to measure the </a:t>
            </a:r>
            <a:r>
              <a:rPr lang="en-US" sz="1600" dirty="0" err="1"/>
              <a:t>distanc</a:t>
            </a:r>
            <a:r>
              <a:rPr lang="en-US" sz="1600" dirty="0"/>
              <a:t> of each test sample (unknown label) with K closest neighbors in train set (known label)</a:t>
            </a:r>
          </a:p>
          <a:p>
            <a:r>
              <a:rPr lang="en-US" sz="1600" dirty="0"/>
              <a:t>Majority vote determines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66836-CE3D-E35A-A5F7-586F5A1E9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771" y="2734056"/>
            <a:ext cx="5874751" cy="3483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KNN –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Simple and intuitive</a:t>
            </a:r>
          </a:p>
          <a:p>
            <a:r>
              <a:rPr dirty="0"/>
              <a:t>No training phase</a:t>
            </a:r>
          </a:p>
          <a:p>
            <a:r>
              <a:rPr dirty="0"/>
              <a:t>Slow for large datasets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Comparison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Logistic Regression – Simple &amp; interpretable</a:t>
            </a:r>
          </a:p>
          <a:p>
            <a:r>
              <a:t>Random Forest – Powerful &amp; handles complexity</a:t>
            </a:r>
          </a:p>
          <a:p>
            <a:r>
              <a:t>SVM – Optimal boundary, good for complex spaces</a:t>
            </a:r>
          </a:p>
          <a:p>
            <a:r>
              <a:t>KNN – Instance-based, similarity-driven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235</Words>
  <Application>Microsoft Macintosh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Machine Learning Algorithms Overview</vt:lpstr>
      <vt:lpstr>Logistic Regression</vt:lpstr>
      <vt:lpstr>Logistic Regression – Key Points</vt:lpstr>
      <vt:lpstr>Random Forest</vt:lpstr>
      <vt:lpstr>Random Forest – Key Points</vt:lpstr>
      <vt:lpstr>Support Vector Machine (SVM)</vt:lpstr>
      <vt:lpstr>SVM – Key Points</vt:lpstr>
      <vt:lpstr>K-Nearest Neighbors (KNN)</vt:lpstr>
      <vt:lpstr>KNN – Key Points</vt:lpstr>
      <vt:lpstr>Algorithm Comparison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Bonakdar, Sina</cp:lastModifiedBy>
  <cp:revision>10</cp:revision>
  <dcterms:created xsi:type="dcterms:W3CDTF">2013-01-27T09:14:16Z</dcterms:created>
  <dcterms:modified xsi:type="dcterms:W3CDTF">2026-02-10T17:10:11Z</dcterms:modified>
  <cp:category/>
</cp:coreProperties>
</file>